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A2140-991B-B622-D9C2-F2515564DD8F}" v="536" dt="2025-12-29T15:51:18.373"/>
    <p1510:client id="{A99F3D42-FBDB-A06F-6276-93C4BAECE938}" v="168" dt="2025-12-30T05:15:35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9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9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8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3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61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35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7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63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5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37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7B643005-27FA-879D-E49E-0D16BB63A5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506" y="1122362"/>
            <a:ext cx="8455445" cy="2303771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Cybersecurity: Suspicious Web Threat Interactions</a:t>
            </a:r>
            <a:endParaRPr lang="en-US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02344"/>
            <a:ext cx="9144000" cy="13554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lang="en-US" sz="1700" b="1">
                <a:solidFill>
                  <a:srgbClr val="FFFFFF"/>
                </a:solidFill>
              </a:rPr>
              <a:t>Name: </a:t>
            </a:r>
            <a:r>
              <a:rPr lang="en-US" sz="1700">
                <a:solidFill>
                  <a:srgbClr val="FFFFFF"/>
                </a:solidFill>
              </a:rPr>
              <a:t>Vadla Rajashekar Chary</a:t>
            </a:r>
          </a:p>
          <a:p>
            <a:pPr algn="just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lang="en-US" sz="1700" b="1">
                <a:solidFill>
                  <a:srgbClr val="FFFFFF"/>
                </a:solidFill>
              </a:rPr>
              <a:t>Domain:</a:t>
            </a:r>
            <a:r>
              <a:rPr lang="en-US" sz="1700">
                <a:solidFill>
                  <a:srgbClr val="FFFFFF"/>
                </a:solidFill>
              </a:rPr>
              <a:t> Data Analyst / Cybersecurity            </a:t>
            </a:r>
          </a:p>
          <a:p>
            <a:pPr algn="just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lang="en-US" sz="1700" b="1">
                <a:solidFill>
                  <a:srgbClr val="FFFFFF"/>
                </a:solidFill>
              </a:rPr>
              <a:t>Tools:</a:t>
            </a:r>
            <a:r>
              <a:rPr lang="en-US" sz="1700">
                <a:solidFill>
                  <a:srgbClr val="FFFFFF"/>
                </a:solidFill>
              </a:rPr>
              <a:t> Python, </a:t>
            </a:r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Machine learning, python, SQL, Excel, Google Colab</a:t>
            </a:r>
            <a:endParaRPr lang="en-US" sz="17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1700">
              <a:solidFill>
                <a:srgbClr val="FFFFFF"/>
              </a:solidFill>
            </a:endParaRPr>
          </a:p>
          <a:p>
            <a:pPr algn="just"/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4970C-86D8-41AE-3D0C-0395F2F3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A143E1-EF5B-1E8C-2C0F-4A6B9C951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1EBF1A47-A58A-57A7-4398-7E22050803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ACF55D-43AA-1C6E-CC25-5A87745F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254" y="874482"/>
            <a:ext cx="9364336" cy="167030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Problem Statement</a:t>
            </a:r>
            <a:endParaRPr lang="en-US" sz="3600">
              <a:solidFill>
                <a:srgbClr val="000000"/>
              </a:solidFill>
              <a:latin typeface="Bookman Old Style"/>
              <a:ea typeface="Calibri"/>
              <a:cs typeface="Calibri"/>
            </a:endParaRPr>
          </a:p>
          <a:p>
            <a:endParaRPr lang="en-US" dirty="0">
              <a:solidFill>
                <a:srgbClr val="FFFFFF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26109-7229-226C-6D00-6DCD3EC6C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9592" y="2644586"/>
            <a:ext cx="8850215" cy="26132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Calibri"/>
              </a:rPr>
              <a:t>Modern web servers face increasing cyber threats.</a:t>
            </a:r>
            <a:endParaRPr lang="en-US" sz="3200">
              <a:solidFill>
                <a:srgbClr val="000000"/>
              </a:solidFill>
              <a:latin typeface="Browallia New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Calibri"/>
              </a:rPr>
              <a:t>Manual detection is inefficient.</a:t>
            </a:r>
            <a:endParaRPr lang="en-US" sz="3200">
              <a:solidFill>
                <a:srgbClr val="000000"/>
              </a:solidFill>
              <a:latin typeface="Browallia New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Calibri"/>
              </a:rPr>
              <a:t>Need an automated system to identify suspicious web traffic.</a:t>
            </a:r>
            <a:endParaRPr lang="en-US" sz="3200">
              <a:solidFill>
                <a:srgbClr val="000000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4802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DA7B1-FE77-D2ED-8D9E-B024308B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6FF67B-32B0-EDE4-24F6-717C10605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02A4AFE1-B7E8-B08B-AF98-62CF9C5A2E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8877BE-1C0E-9DE0-F522-C893B3A8D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1030554"/>
            <a:ext cx="9364336" cy="1523412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Project Objective</a:t>
            </a:r>
            <a:endParaRPr lang="en-US" sz="3600">
              <a:latin typeface="Bookman Old Style"/>
            </a:endParaRPr>
          </a:p>
          <a:p>
            <a:endParaRPr lang="en-US" dirty="0">
              <a:solidFill>
                <a:srgbClr val="FFFFFF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AFFD9-3093-6E10-70B8-3F635BF71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>
                <a:latin typeface="Browallia New"/>
                <a:ea typeface="Calibri"/>
                <a:cs typeface="Calibri"/>
              </a:rPr>
              <a:t>Analyze web traffic data</a:t>
            </a:r>
            <a:endParaRPr lang="en-US" sz="320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Calibri"/>
              </a:rPr>
              <a:t> Detect suspicious interactions</a:t>
            </a:r>
            <a:endParaRPr lang="en-US" sz="320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Calibri"/>
              </a:rPr>
              <a:t> Apply machine learning models</a:t>
            </a:r>
            <a:endParaRPr lang="en-US" sz="3200">
              <a:latin typeface="Browallia New"/>
              <a:cs typeface="Browallia New"/>
            </a:endParaRPr>
          </a:p>
          <a:p>
            <a:pPr algn="l">
              <a:buChar char="•"/>
            </a:pPr>
            <a:r>
              <a:rPr lang="en-US" sz="3200" dirty="0">
                <a:latin typeface="Browallia New"/>
                <a:ea typeface="Calibri"/>
                <a:cs typeface="Calibri"/>
              </a:rPr>
              <a:t> Visualize attack patterns</a:t>
            </a:r>
            <a:endParaRPr lang="en-US" sz="3200">
              <a:latin typeface="Browallia New"/>
              <a:cs typeface="Browallia New"/>
            </a:endParaRPr>
          </a:p>
          <a:p>
            <a:pPr marL="285750" indent="-285750" algn="l">
              <a:buFont typeface="Arial"/>
              <a:buChar char="•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3930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C6273-1792-23D6-36A2-D4BC8596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7905D4-F129-0771-9C74-5E45AC02E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2F66DA28-8CCD-7057-9E04-AB18BF03B5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FE7421-A8F9-A29D-8ECA-25F0E0EAA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00911"/>
            <a:ext cx="9364336" cy="1586042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Dataset Overview</a:t>
            </a:r>
            <a:endParaRPr lang="en-US" sz="3600"/>
          </a:p>
          <a:p>
            <a:endParaRPr lang="en-US" dirty="0">
              <a:solidFill>
                <a:srgbClr val="FFFFFF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51151-B407-FF71-C789-AB992488A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071483"/>
            <a:ext cx="8621828" cy="318631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70000"/>
              </a:lnSpc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Source: AWS CloudWatch Logs</a:t>
            </a:r>
          </a:p>
          <a:p>
            <a:pPr algn="l">
              <a:lnSpc>
                <a:spcPct val="70000"/>
              </a:lnSpc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Records: Web 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traffic interactions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lnSpc>
                <a:spcPct val="70000"/>
              </a:lnSpc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Features: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lnSpc>
                <a:spcPct val="70000"/>
              </a:lnSpc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    - Bytes In / Bytes Out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lnSpc>
                <a:spcPct val="70000"/>
              </a:lnSpc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    - IP Addresses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lnSpc>
                <a:spcPct val="70000"/>
              </a:lnSpc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    - 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Country Code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lnSpc>
                <a:spcPct val="70000"/>
              </a:lnSpc>
            </a:pP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    - </a:t>
            </a:r>
            <a:r>
              <a:rPr lang="en-US" sz="3200" dirty="0">
                <a:latin typeface="Browallia New"/>
                <a:ea typeface="Calibri"/>
                <a:cs typeface="Browallia New"/>
              </a:rPr>
              <a:t>Protocol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lnSpc>
                <a:spcPct val="70000"/>
              </a:lnSpc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    - Detection Type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marL="285750" indent="-285750" algn="l">
              <a:buFont typeface="Arial"/>
              <a:buChar char="•"/>
            </a:pPr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just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</p:txBody>
      </p:sp>
    </p:spTree>
    <p:extLst>
      <p:ext uri="{BB962C8B-B14F-4D97-AF65-F5344CB8AC3E}">
        <p14:creationId xmlns:p14="http://schemas.microsoft.com/office/powerpoint/2010/main" val="1009303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44179-A384-B374-D5E7-7B9EB6F0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2BA39B-EAFF-4DA1-D7D1-3F7D0C877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7EC4C996-5156-9FB6-B8B7-FE6CF10DEA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D673D2-AA5F-FE77-74F9-068F5ED65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764314"/>
            <a:ext cx="9364336" cy="945026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Tools &amp; Technologies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CCEC5-ADF3-FDE1-0ADC-8B2775E2C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>
                <a:latin typeface="Browallia New"/>
                <a:ea typeface="Calibri"/>
                <a:cs typeface="Calibri"/>
              </a:rPr>
              <a:t>Google Colab</a:t>
            </a:r>
          </a:p>
          <a:p>
            <a:pPr algn="l"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Python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Pandas &amp; NumPy</a:t>
            </a:r>
            <a:endParaRPr lang="en-US" sz="320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Matplotlib &amp; Seaborn</a:t>
            </a:r>
            <a:endParaRPr lang="en-US" sz="320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 Scikit-learn</a:t>
            </a:r>
            <a:endParaRPr lang="en-US" sz="3200" dirty="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2362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D7B26-7817-516A-85B0-057DAFBD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956F95-CCB8-D6F3-6FF0-0A0F7F758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00AD7FBC-1C5B-15F7-66ED-17CF58DCE7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3C15D9-FAFE-9D4F-064E-8032B2A6D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Data Preprocessing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42764-0B13-8F61-1475-8051A078F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Arial"/>
              </a:rPr>
              <a:t>•</a:t>
            </a:r>
            <a:r>
              <a:rPr lang="en-US" sz="3200" dirty="0">
                <a:latin typeface="Browallia New"/>
                <a:ea typeface="Calibri"/>
                <a:cs typeface="Calibri"/>
              </a:rPr>
              <a:t> Removed duplicates</a:t>
            </a:r>
            <a:endParaRPr lang="en-US" sz="3200">
              <a:latin typeface="Browallia New"/>
              <a:ea typeface="Calibri"/>
              <a:cs typeface="Calibri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Arial"/>
              </a:rPr>
              <a:t>• </a:t>
            </a:r>
            <a:r>
              <a:rPr lang="en-US" sz="3200" dirty="0">
                <a:latin typeface="Browallia New"/>
                <a:ea typeface="Calibri"/>
                <a:cs typeface="Calibri"/>
              </a:rPr>
              <a:t>Converted timestamps</a:t>
            </a:r>
            <a:endParaRPr lang="en-US" sz="3200">
              <a:latin typeface="Browallia New"/>
              <a:cs typeface="Browallia New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Arial"/>
              </a:rPr>
              <a:t>• </a:t>
            </a:r>
            <a:r>
              <a:rPr lang="en-US" sz="3200" dirty="0">
                <a:latin typeface="Browallia New"/>
                <a:ea typeface="Calibri"/>
                <a:cs typeface="Calibri"/>
              </a:rPr>
              <a:t>Standardized country codes</a:t>
            </a:r>
            <a:endParaRPr lang="en-US" sz="3200">
              <a:latin typeface="Browallia New"/>
              <a:cs typeface="Browallia New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Arial"/>
              </a:rPr>
              <a:t>• </a:t>
            </a:r>
            <a:r>
              <a:rPr lang="en-US" sz="3200" dirty="0">
                <a:latin typeface="Browallia New"/>
                <a:ea typeface="Calibri"/>
                <a:cs typeface="Calibri"/>
              </a:rPr>
              <a:t>Created new features</a:t>
            </a:r>
            <a:endParaRPr lang="en-US" sz="3200">
              <a:latin typeface="Browallia New"/>
              <a:cs typeface="Browallia New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9016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3CA1F-5DE0-AA7F-8EB4-68A3DF0E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381FF8-B359-65D1-254E-874F51E63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A903B767-BE85-180E-C7A7-7D4414359A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4B5465-A994-265E-F691-E655B1935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893" y="690869"/>
            <a:ext cx="9401058" cy="44008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Data Cleaning </a:t>
            </a:r>
            <a:endParaRPr lang="en-US" sz="3600"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26A62-49BF-66BD-09A7-DAE37018B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8919" y="1717335"/>
            <a:ext cx="9549081" cy="4440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latin typeface="Arial"/>
              <a:ea typeface="Calibri"/>
              <a:cs typeface="Arial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E3C721-1BA8-7727-A619-2AE7D1454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92" y="1318620"/>
            <a:ext cx="9961085" cy="524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48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1E207-4C6E-82FA-C828-4AFB1C04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961D5C-A40E-D8EA-27D6-003D66813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BD4193FC-ED29-4DF7-4C84-8A402F12F1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31A601-9C6D-974B-6841-C0EA9205A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Feature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CF043-8A7B-3ADD-3C5C-F224ABABC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Session Duration</a:t>
            </a:r>
            <a:endParaRPr lang="en-US" dirty="0">
              <a:solidFill>
                <a:srgbClr val="FFFFFF"/>
              </a:solidFill>
              <a:latin typeface="Browallia New"/>
              <a:cs typeface="Browallia New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Average Packet Size</a:t>
            </a:r>
            <a:endParaRPr lang="en-US" dirty="0">
              <a:solidFill>
                <a:srgbClr val="FFFFFF"/>
              </a:solidFill>
              <a:latin typeface="Browallia New"/>
              <a:cs typeface="Browallia New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Scaled numerical features</a:t>
            </a:r>
            <a:endParaRPr lang="en-US" dirty="0">
              <a:solidFill>
                <a:srgbClr val="FFFFFF"/>
              </a:solidFill>
              <a:latin typeface="Browallia New"/>
              <a:cs typeface="Browallia New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Encoded categorical variables</a:t>
            </a:r>
            <a:endParaRPr lang="en-US" dirty="0">
              <a:solidFill>
                <a:srgbClr val="FFFFFF"/>
              </a:solidFill>
              <a:latin typeface="Browallia New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663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0839D-A1E7-0E5A-6244-BD5F578F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498A5E-8E1A-B424-15B6-B8EE05EBA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3CB99A8D-A8E0-EC5B-1D25-5BA28EB163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E91A17-2AB5-1536-0D01-A92745A6B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617423"/>
            <a:ext cx="9364336" cy="541075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Feature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82C77-C898-FE75-D0E8-53AD38C8D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428542-38C8-7796-BEA7-465317408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22" y="1309154"/>
            <a:ext cx="10062073" cy="505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89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32C0D-FABA-0825-B9A6-62BC2D3F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0537F9-34C8-951B-46AD-C49C0F0D9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436177FE-7230-CC25-F5BE-BBEC7C0AE5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1BD34D-CBAB-3DB9-A604-B90766682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555" y="479712"/>
            <a:ext cx="9621396" cy="66960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Exploratory Data Analysis (EDA)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CDC33-2CEC-F3E4-1055-CBE101CED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956" y="1221576"/>
            <a:ext cx="9852044" cy="5000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1.1 Bytes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In vs Bytes Out Distribution</a:t>
            </a:r>
            <a:endParaRPr lang="en-US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745FBA-5916-15D5-9416-63FAF15BC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02" y="1839090"/>
            <a:ext cx="8896120" cy="453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69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F0E18-3265-45C4-5192-E642B883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02D33E-A18C-AF4B-6F4C-DB471E4AB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21392A84-5A73-5064-D57D-2697F526AD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F141C-9742-2F68-E709-EBD47D8A2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555" y="479712"/>
            <a:ext cx="9621396" cy="834858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1.2 Protocol Count</a:t>
            </a:r>
            <a:endParaRPr lang="en-US" sz="3200" dirty="0">
              <a:solidFill>
                <a:srgbClr val="000000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600" dirty="0"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3269E-60A2-67E3-9592-FABF5CDDE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956" y="1221576"/>
            <a:ext cx="9852044" cy="5000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/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latin typeface="Aptos" panose="02110004020202020204"/>
              <a:ea typeface="Calibri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7DC872-3316-3136-E5D2-5E19009D4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85" y="982453"/>
            <a:ext cx="10135517" cy="548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78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207CB-2203-0EDA-29F1-1BE1D219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554C3F-C67E-411D-C28B-F13B41E7C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6A046446-4DF1-2146-349A-A917379604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F64E22-8C89-1F7E-5DC9-32CF341AF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555" y="479712"/>
            <a:ext cx="9621396" cy="834858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1.3 Country-wise Traffic</a:t>
            </a:r>
            <a:endParaRPr lang="en-US" sz="3200" dirty="0">
              <a:solidFill>
                <a:srgbClr val="000000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600" dirty="0"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57CBA-9D3E-153F-A6AD-F693C3BA7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956" y="1221576"/>
            <a:ext cx="9852044" cy="5000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70F1F2-5632-FCE8-0C5F-ED0E55CD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92" y="1037537"/>
            <a:ext cx="10404413" cy="533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24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8CAB4-6C3F-C308-BCEC-51EE7BD3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22212F-36F6-3CCB-1252-13449E27E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EA08292B-B0D5-223D-8F16-9568125A22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66579D-8666-4550-481E-6DD22A22A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Machine Learning Model</a:t>
            </a:r>
            <a:endParaRPr lang="en-US" sz="360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718-025D-7581-E8B1-11AC368C7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Model Used: Random Forest Classifier</a:t>
            </a:r>
            <a:endParaRPr lang="en-US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Why Random Forest?</a:t>
            </a:r>
            <a:endParaRPr lang="en-US" dirty="0"/>
          </a:p>
          <a:p>
            <a:pPr algn="l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latin typeface="Browallia New"/>
                <a:ea typeface="Calibri"/>
                <a:cs typeface="Browallia New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Handles non-linear data</a:t>
            </a:r>
            <a:endParaRPr lang="en-US" dirty="0"/>
          </a:p>
          <a:p>
            <a:pPr algn="l">
              <a:lnSpc>
                <a:spcPct val="80000"/>
              </a:lnSpc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Robust to noise</a:t>
            </a:r>
            <a:endParaRPr lang="en-US" dirty="0"/>
          </a:p>
          <a:p>
            <a:pPr algn="l">
              <a:lnSpc>
                <a:spcPct val="80000"/>
              </a:lnSpc>
            </a:pPr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 High accuracy</a:t>
            </a:r>
            <a:endParaRPr lang="en-US" dirty="0"/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3963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61F80-8F1C-4B06-C0FC-31F178AB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E6B897-3F02-6629-1663-AD23BF42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1CE41099-A1C4-C544-41E4-E52B4796D6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4E62FB-F695-2B79-B62B-CC689D3EC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Machine Learning – Random Forest</a:t>
            </a:r>
            <a:endParaRPr lang="en-US" sz="3600" dirty="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FF4F-3950-E345-195F-E8CA543DB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510" y="1597985"/>
            <a:ext cx="10311080" cy="4642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80815B-8747-3F02-7BCC-92B3A34EE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14" y="1956494"/>
            <a:ext cx="10502747" cy="382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24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0FBC4-B206-1340-4AFA-F0B8F7CA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606750-CA7A-730C-BF47-71CAD64E6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690B52C9-9C2A-7325-8B5E-D49A5289EE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F625E3-260B-184F-3C0B-DAB2D4FA4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Model Evaluation</a:t>
            </a:r>
            <a:endParaRPr lang="en-US" sz="3600" dirty="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397A1-3E74-3C4F-8536-6E20CE26B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Accuracy: 100%</a:t>
            </a:r>
            <a:endParaRPr lang="en-US"/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Precision: High</a:t>
            </a:r>
            <a:endParaRPr lang="en-US"/>
          </a:p>
          <a:p>
            <a:pPr algn="l"/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• Recall: High</a:t>
            </a:r>
            <a:endParaRPr lang="en-US" dirty="0"/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Reliable threat detection</a:t>
            </a:r>
            <a:endParaRPr lang="en-US" dirty="0"/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465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E4A50-D142-0C27-B490-F842623E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AEE931-B3BA-83DD-22B6-CEFDEA382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2C97B048-62E8-4235-90C0-7841669205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8963A0-A407-5E18-8934-65F9C05F0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218" y="663201"/>
            <a:ext cx="9635733" cy="591506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Model Evaluation</a:t>
            </a:r>
            <a:endParaRPr lang="en-US" sz="3600" dirty="0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82A21-9526-7D13-E363-01B6434FF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70" y="1716579"/>
            <a:ext cx="10417224" cy="4752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2ACC80-7878-DBF3-9AFF-7D3C1B9CF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15" y="1863073"/>
            <a:ext cx="10417479" cy="378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68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FE4DA-BD70-213F-E8EE-8A6BB5E3C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F79181-C719-7C58-7909-B4C97BC0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F4BC2E04-0712-A14F-C38D-09259F5CB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3C637-F27F-4EE3-EA58-F8F91E1DB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725" y="433557"/>
            <a:ext cx="9552226" cy="1186492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rgbClr val="FFFFFF"/>
                </a:solidFill>
                <a:latin typeface="Bookman Old Style"/>
              </a:rPr>
              <a:t>Visualization of Anomalies</a:t>
            </a:r>
            <a:endParaRPr lang="en-US"/>
          </a:p>
          <a:p>
            <a:pPr algn="l"/>
            <a:endParaRPr lang="en-US" sz="3600" dirty="0"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FE24D-5ED7-C03C-C676-622CC8BEF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200" y="1392990"/>
            <a:ext cx="10385909" cy="46163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47BD62-CBEC-FC42-9DFF-DD139BE1F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45" y="1278824"/>
            <a:ext cx="10240027" cy="515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55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6A7A0-F735-73CC-2F3F-50EBED98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2E67DF-9FAC-3308-7C08-724AAB6A6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489F17CC-7E8B-A721-E3AF-10D4014D52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8B6E8B-E2E0-0565-E9B0-5BB7613F7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Key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6EC63-9CF0-0522-2758-18A481355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High incoming traffic indicates attacks</a:t>
            </a:r>
            <a:endParaRPr lang="en-US" dirty="0"/>
          </a:p>
          <a:p>
            <a:pPr algn="l"/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• Repeated suspicious access from certain countries</a:t>
            </a:r>
            <a:endParaRPr lang="en-US" dirty="0"/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Non-standard patterns detected effectively</a:t>
            </a:r>
            <a:endParaRPr lang="en-US" dirty="0"/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0490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2B478-59E9-1E4B-7333-14000D33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8A9292-E668-3067-8C3C-6101AFE06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CBE521AF-091E-6A16-90FE-D3764376C4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5064D1-27C2-EC3D-B121-3BB2CCF88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3E76A-9115-67F7-6A77-1D799AB4A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Successfully built an automated threat detection system</a:t>
            </a:r>
            <a:endParaRPr lang="en-US" dirty="0"/>
          </a:p>
          <a:p>
            <a:pPr algn="l"/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• Machine learning improves cybersecurity monitoring</a:t>
            </a:r>
            <a:endParaRPr lang="en-US" dirty="0"/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Can be extended to real-time systems</a:t>
            </a:r>
            <a:endParaRPr lang="en-US" dirty="0"/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5096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979F4-614A-5643-706E-D7B95553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46B366-96C0-5049-56C5-05623101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094F2AAD-77CD-AADA-8BC7-D621BFD676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C3BF89-594F-14CD-FBB2-BD8B47A75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615" y="892844"/>
            <a:ext cx="9364336" cy="70632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ookman Old Style"/>
                <a:ea typeface="Calibri"/>
                <a:cs typeface="Calibri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F5DD6-4F56-96A0-6FA9-FD727AB01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2332442"/>
            <a:ext cx="8621828" cy="2925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Successfully built an automated threat detection system</a:t>
            </a:r>
            <a:endParaRPr lang="en-US" dirty="0"/>
          </a:p>
          <a:p>
            <a:pPr algn="l"/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• Machine learning improves cybersecurity monitoring</a:t>
            </a:r>
            <a:endParaRPr lang="en-US" dirty="0"/>
          </a:p>
          <a:p>
            <a:pPr algn="l"/>
            <a:r>
              <a:rPr lang="en-US" sz="3200" dirty="0">
                <a:latin typeface="Browallia New"/>
                <a:ea typeface="Calibri"/>
                <a:cs typeface="Browallia New"/>
              </a:rPr>
              <a:t>•</a:t>
            </a:r>
            <a:r>
              <a:rPr lang="en-US" sz="3200" dirty="0">
                <a:solidFill>
                  <a:srgbClr val="FFFFFF"/>
                </a:solidFill>
                <a:latin typeface="Browallia New"/>
                <a:ea typeface="Calibri"/>
                <a:cs typeface="Browallia New"/>
              </a:rPr>
              <a:t> Can be extended to real-time systems</a:t>
            </a:r>
            <a:endParaRPr lang="en-US" dirty="0"/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1369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B8BEC-D97A-9685-3D7F-CE9A5766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11E9A0-F25D-871A-E4AD-97CB8673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ybersecurity: Suspicious Web Threat Interactions">
            <a:extLst>
              <a:ext uri="{FF2B5EF4-FFF2-40B4-BE49-F238E27FC236}">
                <a16:creationId xmlns:a16="http://schemas.microsoft.com/office/drawing/2014/main" id="{9F25A71D-D284-8CBC-A366-4425D4D7CD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55" r="9366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A31CBC-B1B3-6337-6179-6BC14637F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807" y="778022"/>
            <a:ext cx="6253706" cy="2793998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latin typeface="Bookman Old Style"/>
                <a:ea typeface="Calibri"/>
                <a:cs typeface="Calibri"/>
              </a:rPr>
              <a:t>Thank You</a:t>
            </a: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328CF-5584-8A22-E5DB-D0D0FC332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172" y="4775017"/>
            <a:ext cx="8621828" cy="48278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solidFill>
                <a:srgbClr val="FFFFFF"/>
              </a:solidFill>
              <a:latin typeface="Browallia New"/>
              <a:ea typeface="Calibri"/>
              <a:cs typeface="Browallia New"/>
            </a:endParaRPr>
          </a:p>
          <a:p>
            <a:pPr algn="l"/>
            <a:endParaRPr lang="en-US" sz="3200" dirty="0">
              <a:latin typeface="Browallia New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</a:pPr>
            <a:endParaRPr lang="en-US" sz="3600" dirty="0">
              <a:solidFill>
                <a:srgbClr val="FFFFFF"/>
              </a:solidFill>
              <a:latin typeface="Browallia New"/>
              <a:ea typeface="Calibri"/>
              <a:cs typeface="Calibri"/>
            </a:endParaRPr>
          </a:p>
          <a:p>
            <a:pPr algn="just"/>
            <a:endParaRPr lang="en-US" sz="3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1789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Cybersecurity: Suspicious Web Threat Interactions</vt:lpstr>
      <vt:lpstr>Problem Statement </vt:lpstr>
      <vt:lpstr>Project Objective </vt:lpstr>
      <vt:lpstr>Dataset Overview </vt:lpstr>
      <vt:lpstr>Tools &amp; Technologies</vt:lpstr>
      <vt:lpstr>Data Preprocessing</vt:lpstr>
      <vt:lpstr>Data Cleaning </vt:lpstr>
      <vt:lpstr>Feature Engineering</vt:lpstr>
      <vt:lpstr>Feature Engineering</vt:lpstr>
      <vt:lpstr>Exploratory Data Analysis (EDA)</vt:lpstr>
      <vt:lpstr>1.2 Protocol Count </vt:lpstr>
      <vt:lpstr>1.3 Country-wise Traffic </vt:lpstr>
      <vt:lpstr>Machine Learning Model</vt:lpstr>
      <vt:lpstr>Machine Learning – Random Forest</vt:lpstr>
      <vt:lpstr>Model Evaluation</vt:lpstr>
      <vt:lpstr>Model Evaluation</vt:lpstr>
      <vt:lpstr>Visualization of Anomalies </vt:lpstr>
      <vt:lpstr>Key Findings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339</cp:revision>
  <dcterms:created xsi:type="dcterms:W3CDTF">2013-07-15T20:26:40Z</dcterms:created>
  <dcterms:modified xsi:type="dcterms:W3CDTF">2025-12-30T05:17:02Z</dcterms:modified>
</cp:coreProperties>
</file>